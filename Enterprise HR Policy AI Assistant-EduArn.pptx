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8288000" cy="10287000"/>
  <p:notesSz cx="6858000" cy="9144000"/>
  <p:embeddedFontLst>
    <p:embeddedFont>
      <p:font typeface="Open Sans" panose="020B0606030504020204" pitchFamily="34" charset="0"/>
      <p:regular r:id="rId18"/>
    </p:embeddedFont>
    <p:embeddedFont>
      <p:font typeface="Open Sans Bold" panose="020B0806030504020204" charset="0"/>
      <p:regular r:id="rId19"/>
    </p:embeddedFont>
    <p:embeddedFont>
      <p:font typeface="Poppins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8" d="100"/>
          <a:sy n="38" d="100"/>
        </p:scale>
        <p:origin x="1020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2.sv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2.sv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644591">
            <a:off x="14264060" y="-4055119"/>
            <a:ext cx="8047880" cy="8132468"/>
          </a:xfrm>
          <a:custGeom>
            <a:avLst/>
            <a:gdLst/>
            <a:ahLst/>
            <a:cxnLst/>
            <a:rect l="l" t="t" r="r" b="b"/>
            <a:pathLst>
              <a:path w="8047880" h="8132468">
                <a:moveTo>
                  <a:pt x="0" y="0"/>
                </a:moveTo>
                <a:lnTo>
                  <a:pt x="8047880" y="0"/>
                </a:lnTo>
                <a:lnTo>
                  <a:pt x="8047880" y="8132467"/>
                </a:lnTo>
                <a:lnTo>
                  <a:pt x="0" y="8132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934430">
            <a:off x="-2995240" y="5755692"/>
            <a:ext cx="8047880" cy="8132468"/>
          </a:xfrm>
          <a:custGeom>
            <a:avLst/>
            <a:gdLst/>
            <a:ahLst/>
            <a:cxnLst/>
            <a:rect l="l" t="t" r="r" b="b"/>
            <a:pathLst>
              <a:path w="8047880" h="8132468">
                <a:moveTo>
                  <a:pt x="0" y="0"/>
                </a:moveTo>
                <a:lnTo>
                  <a:pt x="8047880" y="0"/>
                </a:lnTo>
                <a:lnTo>
                  <a:pt x="8047880" y="8132468"/>
                </a:lnTo>
                <a:lnTo>
                  <a:pt x="0" y="8132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37056" y="329980"/>
            <a:ext cx="2416628" cy="1251779"/>
          </a:xfrm>
          <a:custGeom>
            <a:avLst/>
            <a:gdLst/>
            <a:ahLst/>
            <a:cxnLst/>
            <a:rect l="l" t="t" r="r" b="b"/>
            <a:pathLst>
              <a:path w="2416628" h="1251779">
                <a:moveTo>
                  <a:pt x="0" y="0"/>
                </a:moveTo>
                <a:lnTo>
                  <a:pt x="2416628" y="0"/>
                </a:lnTo>
                <a:lnTo>
                  <a:pt x="2416628" y="1251778"/>
                </a:lnTo>
                <a:lnTo>
                  <a:pt x="0" y="12517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905000" y="4031208"/>
            <a:ext cx="14554200" cy="15128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308"/>
              </a:lnSpc>
            </a:pPr>
            <a:r>
              <a:rPr lang="en-US" sz="19900" b="1" dirty="0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Welcome!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811000" y="8018160"/>
            <a:ext cx="10134600" cy="431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589" b="1" dirty="0">
                <a:solidFill>
                  <a:srgbClr val="1C74B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Vinod Kumar, CTO – EduArn.com</a:t>
            </a:r>
            <a:endParaRPr lang="en-US" sz="2589" dirty="0">
              <a:solidFill>
                <a:srgbClr val="1C74B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296859" y="8737582"/>
            <a:ext cx="6570272" cy="5869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91"/>
              </a:lnSpc>
              <a:spcBef>
                <a:spcPct val="0"/>
              </a:spcBef>
            </a:pPr>
            <a:r>
              <a:rPr lang="en-US" sz="3493" b="1" dirty="0">
                <a:solidFill>
                  <a:srgbClr val="1C74B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EduArn.com | AI Webinar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BEA83-B0E5-78C0-EAF0-84849FB65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05995A0-0387-DB50-45B3-2DF877F96D1D}"/>
              </a:ext>
            </a:extLst>
          </p:cNvPr>
          <p:cNvSpPr/>
          <p:nvPr/>
        </p:nvSpPr>
        <p:spPr>
          <a:xfrm rot="4644591">
            <a:off x="14264060" y="-4055119"/>
            <a:ext cx="8047880" cy="8132468"/>
          </a:xfrm>
          <a:custGeom>
            <a:avLst/>
            <a:gdLst/>
            <a:ahLst/>
            <a:cxnLst/>
            <a:rect l="l" t="t" r="r" b="b"/>
            <a:pathLst>
              <a:path w="8047880" h="8132468">
                <a:moveTo>
                  <a:pt x="0" y="0"/>
                </a:moveTo>
                <a:lnTo>
                  <a:pt x="8047880" y="0"/>
                </a:lnTo>
                <a:lnTo>
                  <a:pt x="8047880" y="8132467"/>
                </a:lnTo>
                <a:lnTo>
                  <a:pt x="0" y="8132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2DFC5F9-0187-99E3-A6B0-DCE500EFA1D6}"/>
              </a:ext>
            </a:extLst>
          </p:cNvPr>
          <p:cNvSpPr/>
          <p:nvPr/>
        </p:nvSpPr>
        <p:spPr>
          <a:xfrm rot="934430">
            <a:off x="-2995240" y="5755692"/>
            <a:ext cx="8047880" cy="8132468"/>
          </a:xfrm>
          <a:custGeom>
            <a:avLst/>
            <a:gdLst/>
            <a:ahLst/>
            <a:cxnLst/>
            <a:rect l="l" t="t" r="r" b="b"/>
            <a:pathLst>
              <a:path w="8047880" h="8132468">
                <a:moveTo>
                  <a:pt x="0" y="0"/>
                </a:moveTo>
                <a:lnTo>
                  <a:pt x="8047880" y="0"/>
                </a:lnTo>
                <a:lnTo>
                  <a:pt x="8047880" y="8132468"/>
                </a:lnTo>
                <a:lnTo>
                  <a:pt x="0" y="8132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5C365F8-458B-A6EE-56DF-BBCB888E2AE7}"/>
              </a:ext>
            </a:extLst>
          </p:cNvPr>
          <p:cNvSpPr/>
          <p:nvPr/>
        </p:nvSpPr>
        <p:spPr>
          <a:xfrm>
            <a:off x="10174060" y="5310470"/>
            <a:ext cx="4131898" cy="2582436"/>
          </a:xfrm>
          <a:custGeom>
            <a:avLst/>
            <a:gdLst/>
            <a:ahLst/>
            <a:cxnLst/>
            <a:rect l="l" t="t" r="r" b="b"/>
            <a:pathLst>
              <a:path w="4131898" h="2582436">
                <a:moveTo>
                  <a:pt x="0" y="0"/>
                </a:moveTo>
                <a:lnTo>
                  <a:pt x="4131899" y="0"/>
                </a:lnTo>
                <a:lnTo>
                  <a:pt x="4131899" y="2582437"/>
                </a:lnTo>
                <a:lnTo>
                  <a:pt x="0" y="25824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E824307-D0B4-926A-2E49-8C1AA785D3D4}"/>
              </a:ext>
            </a:extLst>
          </p:cNvPr>
          <p:cNvSpPr/>
          <p:nvPr/>
        </p:nvSpPr>
        <p:spPr>
          <a:xfrm>
            <a:off x="15437056" y="329980"/>
            <a:ext cx="2416628" cy="1251779"/>
          </a:xfrm>
          <a:custGeom>
            <a:avLst/>
            <a:gdLst/>
            <a:ahLst/>
            <a:cxnLst/>
            <a:rect l="l" t="t" r="r" b="b"/>
            <a:pathLst>
              <a:path w="2416628" h="1251779">
                <a:moveTo>
                  <a:pt x="0" y="0"/>
                </a:moveTo>
                <a:lnTo>
                  <a:pt x="2416628" y="0"/>
                </a:lnTo>
                <a:lnTo>
                  <a:pt x="2416628" y="1251778"/>
                </a:lnTo>
                <a:lnTo>
                  <a:pt x="0" y="12517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2A9423F-6452-2C2A-F954-397DBA409ACD}"/>
              </a:ext>
            </a:extLst>
          </p:cNvPr>
          <p:cNvSpPr/>
          <p:nvPr/>
        </p:nvSpPr>
        <p:spPr>
          <a:xfrm>
            <a:off x="13923498" y="2954530"/>
            <a:ext cx="2369602" cy="2739424"/>
          </a:xfrm>
          <a:custGeom>
            <a:avLst/>
            <a:gdLst/>
            <a:ahLst/>
            <a:cxnLst/>
            <a:rect l="l" t="t" r="r" b="b"/>
            <a:pathLst>
              <a:path w="2369602" h="2739424">
                <a:moveTo>
                  <a:pt x="0" y="0"/>
                </a:moveTo>
                <a:lnTo>
                  <a:pt x="2369602" y="0"/>
                </a:lnTo>
                <a:lnTo>
                  <a:pt x="2369602" y="2739425"/>
                </a:lnTo>
                <a:lnTo>
                  <a:pt x="0" y="27394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D2CC279-2995-42D2-DA9E-9F2118E6DA65}"/>
              </a:ext>
            </a:extLst>
          </p:cNvPr>
          <p:cNvSpPr txBox="1"/>
          <p:nvPr/>
        </p:nvSpPr>
        <p:spPr>
          <a:xfrm>
            <a:off x="1437620" y="906424"/>
            <a:ext cx="12004802" cy="2258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08"/>
              </a:lnSpc>
            </a:pPr>
            <a:r>
              <a:rPr lang="en-US" sz="8745" b="1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ENTERPRISE HR POLICY AI ASSISTANT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9D48111-6F82-60B6-8440-176B6B68AE0E}"/>
              </a:ext>
            </a:extLst>
          </p:cNvPr>
          <p:cNvSpPr txBox="1"/>
          <p:nvPr/>
        </p:nvSpPr>
        <p:spPr>
          <a:xfrm>
            <a:off x="1644257" y="3766685"/>
            <a:ext cx="11387257" cy="645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6"/>
              </a:lnSpc>
              <a:spcBef>
                <a:spcPct val="0"/>
              </a:spcBef>
            </a:pPr>
            <a:r>
              <a:rPr lang="en-US" sz="3733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Build a Local RAG-Powered HR Knowledge Assistant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B08EF7D-4F81-8E5D-D9A9-C4F193DB2F8C}"/>
              </a:ext>
            </a:extLst>
          </p:cNvPr>
          <p:cNvSpPr txBox="1"/>
          <p:nvPr/>
        </p:nvSpPr>
        <p:spPr>
          <a:xfrm>
            <a:off x="4412069" y="5086350"/>
            <a:ext cx="4593630" cy="364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589" b="1">
                <a:solidFill>
                  <a:srgbClr val="1C74B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Powered by:</a:t>
            </a:r>
          </a:p>
          <a:p>
            <a:pPr marL="559075" lvl="1" indent="-279538" algn="l">
              <a:lnSpc>
                <a:spcPts val="3625"/>
              </a:lnSpc>
              <a:buFont typeface="Arial"/>
              <a:buChar char="•"/>
            </a:pPr>
            <a:r>
              <a:rPr lang="en-US" sz="258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Python</a:t>
            </a:r>
          </a:p>
          <a:p>
            <a:pPr marL="559075" lvl="1" indent="-279538" algn="l">
              <a:lnSpc>
                <a:spcPts val="3625"/>
              </a:lnSpc>
              <a:buFont typeface="Arial"/>
              <a:buChar char="•"/>
            </a:pPr>
            <a:r>
              <a:rPr lang="en-US" sz="258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LangChain</a:t>
            </a:r>
          </a:p>
          <a:p>
            <a:pPr marL="559075" lvl="1" indent="-279538" algn="l">
              <a:lnSpc>
                <a:spcPts val="3625"/>
              </a:lnSpc>
              <a:buFont typeface="Arial"/>
              <a:buChar char="•"/>
            </a:pPr>
            <a:r>
              <a:rPr lang="en-US" sz="258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ChromaDB</a:t>
            </a:r>
          </a:p>
          <a:p>
            <a:pPr marL="559075" lvl="1" indent="-279538" algn="l">
              <a:lnSpc>
                <a:spcPts val="3625"/>
              </a:lnSpc>
              <a:buFont typeface="Arial"/>
              <a:buChar char="•"/>
            </a:pPr>
            <a:r>
              <a:rPr lang="en-US" sz="258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Hugging Face Embeddings</a:t>
            </a:r>
          </a:p>
          <a:p>
            <a:pPr marL="559075" lvl="1" indent="-279538" algn="l">
              <a:lnSpc>
                <a:spcPts val="3625"/>
              </a:lnSpc>
              <a:buFont typeface="Arial"/>
              <a:buChar char="•"/>
            </a:pPr>
            <a:r>
              <a:rPr lang="en-US" sz="258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Ollama</a:t>
            </a:r>
          </a:p>
          <a:p>
            <a:pPr marL="559075" lvl="1" indent="-279538" algn="l">
              <a:lnSpc>
                <a:spcPts val="3625"/>
              </a:lnSpc>
              <a:buFont typeface="Arial"/>
              <a:buChar char="•"/>
            </a:pPr>
            <a:r>
              <a:rPr lang="en-US" sz="258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Qwen 2.5</a:t>
            </a:r>
          </a:p>
          <a:p>
            <a:pPr marL="559075" lvl="1" indent="-279538" algn="l">
              <a:lnSpc>
                <a:spcPts val="3625"/>
              </a:lnSpc>
              <a:buFont typeface="Arial"/>
              <a:buChar char="•"/>
            </a:pPr>
            <a:r>
              <a:rPr lang="en-US" sz="258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Streamlit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7159D2F-3B03-18E3-7544-32E63ED66B9E}"/>
              </a:ext>
            </a:extLst>
          </p:cNvPr>
          <p:cNvSpPr txBox="1"/>
          <p:nvPr/>
        </p:nvSpPr>
        <p:spPr>
          <a:xfrm>
            <a:off x="4250128" y="9201150"/>
            <a:ext cx="6570272" cy="5869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91"/>
              </a:lnSpc>
              <a:spcBef>
                <a:spcPct val="0"/>
              </a:spcBef>
            </a:pPr>
            <a:r>
              <a:rPr lang="en-US" sz="3493" b="1" dirty="0">
                <a:solidFill>
                  <a:srgbClr val="1C74B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EduArn.com | AI Webinar</a:t>
            </a:r>
          </a:p>
        </p:txBody>
      </p:sp>
    </p:spTree>
    <p:extLst>
      <p:ext uri="{BB962C8B-B14F-4D97-AF65-F5344CB8AC3E}">
        <p14:creationId xmlns:p14="http://schemas.microsoft.com/office/powerpoint/2010/main" val="95224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855666">
            <a:off x="15046734" y="6345056"/>
            <a:ext cx="5662001" cy="5721512"/>
          </a:xfrm>
          <a:custGeom>
            <a:avLst/>
            <a:gdLst/>
            <a:ahLst/>
            <a:cxnLst/>
            <a:rect l="l" t="t" r="r" b="b"/>
            <a:pathLst>
              <a:path w="5662001" h="5721512">
                <a:moveTo>
                  <a:pt x="0" y="0"/>
                </a:moveTo>
                <a:lnTo>
                  <a:pt x="5662001" y="0"/>
                </a:lnTo>
                <a:lnTo>
                  <a:pt x="5662001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721374">
            <a:off x="-1084773" y="-3327728"/>
            <a:ext cx="5662001" cy="5721512"/>
          </a:xfrm>
          <a:custGeom>
            <a:avLst/>
            <a:gdLst/>
            <a:ahLst/>
            <a:cxnLst/>
            <a:rect l="l" t="t" r="r" b="b"/>
            <a:pathLst>
              <a:path w="5662001" h="5721512">
                <a:moveTo>
                  <a:pt x="0" y="0"/>
                </a:moveTo>
                <a:lnTo>
                  <a:pt x="5662002" y="0"/>
                </a:lnTo>
                <a:lnTo>
                  <a:pt x="5662002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715390" y="8128033"/>
            <a:ext cx="1566543" cy="156654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7D8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764456" y="9205812"/>
            <a:ext cx="11234139" cy="52488"/>
            <a:chOff x="0" y="0"/>
            <a:chExt cx="635000" cy="29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" cy="2967"/>
            </a:xfrm>
            <a:custGeom>
              <a:avLst/>
              <a:gdLst/>
              <a:ahLst/>
              <a:cxnLst/>
              <a:rect l="l" t="t" r="r" b="b"/>
              <a:pathLst>
                <a:path w="635000" h="2967">
                  <a:moveTo>
                    <a:pt x="0" y="0"/>
                  </a:moveTo>
                  <a:lnTo>
                    <a:pt x="635000" y="0"/>
                  </a:lnTo>
                  <a:lnTo>
                    <a:pt x="635000" y="2967"/>
                  </a:lnTo>
                  <a:lnTo>
                    <a:pt x="0" y="2967"/>
                  </a:lnTo>
                  <a:close/>
                </a:path>
              </a:pathLst>
            </a:custGeom>
            <a:solidFill>
              <a:srgbClr val="81C1F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35000" cy="41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437056" y="329980"/>
            <a:ext cx="2416628" cy="1251779"/>
          </a:xfrm>
          <a:custGeom>
            <a:avLst/>
            <a:gdLst/>
            <a:ahLst/>
            <a:cxnLst/>
            <a:rect l="l" t="t" r="r" b="b"/>
            <a:pathLst>
              <a:path w="2416628" h="1251779">
                <a:moveTo>
                  <a:pt x="0" y="0"/>
                </a:moveTo>
                <a:lnTo>
                  <a:pt x="2416628" y="0"/>
                </a:lnTo>
                <a:lnTo>
                  <a:pt x="2416628" y="1251778"/>
                </a:lnTo>
                <a:lnTo>
                  <a:pt x="0" y="12517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387366" y="1942414"/>
            <a:ext cx="5036160" cy="4708809"/>
          </a:xfrm>
          <a:custGeom>
            <a:avLst/>
            <a:gdLst/>
            <a:ahLst/>
            <a:cxnLst/>
            <a:rect l="l" t="t" r="r" b="b"/>
            <a:pathLst>
              <a:path w="5036160" h="4708809">
                <a:moveTo>
                  <a:pt x="0" y="0"/>
                </a:moveTo>
                <a:lnTo>
                  <a:pt x="5036160" y="0"/>
                </a:lnTo>
                <a:lnTo>
                  <a:pt x="5036160" y="4708810"/>
                </a:lnTo>
                <a:lnTo>
                  <a:pt x="0" y="47088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764456" y="2397833"/>
            <a:ext cx="13073588" cy="1178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1"/>
              </a:lnSpc>
            </a:pPr>
            <a:r>
              <a:rPr lang="en-US" sz="8612" b="1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THE HR PROBLEM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0522" y="8319572"/>
            <a:ext cx="1071411" cy="13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39"/>
              </a:lnSpc>
            </a:pPr>
            <a:r>
              <a:rPr lang="en-US" sz="9515" b="1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908222" y="3851766"/>
            <a:ext cx="9479144" cy="165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1">
                <a:solidFill>
                  <a:srgbClr val="1C74B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Traditional HR Policy Search</a:t>
            </a:r>
          </a:p>
          <a:p>
            <a:pPr marL="410209" lvl="1" indent="-205105" algn="l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 b="1">
                <a:solidFill>
                  <a:srgbClr val="1C74B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</a:t>
            </a: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mployees often need answers to questions like:</a:t>
            </a:r>
          </a:p>
          <a:p>
            <a:pPr marL="410209" lvl="1" indent="-205105" algn="l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How many annual leaves can I take?</a:t>
            </a:r>
          </a:p>
          <a:p>
            <a:pPr marL="410209" lvl="1" indent="-205105" algn="l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What is the notice period?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endParaRPr lang="en-US" sz="1899">
              <a:solidFill>
                <a:srgbClr val="1C74B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908222" y="5543897"/>
            <a:ext cx="7759778" cy="17059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b="1" dirty="0">
                <a:solidFill>
                  <a:srgbClr val="1C74B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challenge: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📄 Large policy documents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🔎 Manual searching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⏱️ Time-consuming HR queries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❓ Difficult for employees to find the right information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855666">
            <a:off x="15046734" y="6345056"/>
            <a:ext cx="5662001" cy="5721512"/>
          </a:xfrm>
          <a:custGeom>
            <a:avLst/>
            <a:gdLst/>
            <a:ahLst/>
            <a:cxnLst/>
            <a:rect l="l" t="t" r="r" b="b"/>
            <a:pathLst>
              <a:path w="5662001" h="5721512">
                <a:moveTo>
                  <a:pt x="0" y="0"/>
                </a:moveTo>
                <a:lnTo>
                  <a:pt x="5662001" y="0"/>
                </a:lnTo>
                <a:lnTo>
                  <a:pt x="5662001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721374">
            <a:off x="-1084773" y="-3327728"/>
            <a:ext cx="5662001" cy="5721512"/>
          </a:xfrm>
          <a:custGeom>
            <a:avLst/>
            <a:gdLst/>
            <a:ahLst/>
            <a:cxnLst/>
            <a:rect l="l" t="t" r="r" b="b"/>
            <a:pathLst>
              <a:path w="5662001" h="5721512">
                <a:moveTo>
                  <a:pt x="0" y="0"/>
                </a:moveTo>
                <a:lnTo>
                  <a:pt x="5662002" y="0"/>
                </a:lnTo>
                <a:lnTo>
                  <a:pt x="5662002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715390" y="8128033"/>
            <a:ext cx="1566543" cy="156654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7D8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764456" y="9205812"/>
            <a:ext cx="11234139" cy="52488"/>
            <a:chOff x="0" y="0"/>
            <a:chExt cx="635000" cy="29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" cy="2967"/>
            </a:xfrm>
            <a:custGeom>
              <a:avLst/>
              <a:gdLst/>
              <a:ahLst/>
              <a:cxnLst/>
              <a:rect l="l" t="t" r="r" b="b"/>
              <a:pathLst>
                <a:path w="635000" h="2967">
                  <a:moveTo>
                    <a:pt x="0" y="0"/>
                  </a:moveTo>
                  <a:lnTo>
                    <a:pt x="635000" y="0"/>
                  </a:lnTo>
                  <a:lnTo>
                    <a:pt x="635000" y="2967"/>
                  </a:lnTo>
                  <a:lnTo>
                    <a:pt x="0" y="2967"/>
                  </a:lnTo>
                  <a:close/>
                </a:path>
              </a:pathLst>
            </a:custGeom>
            <a:solidFill>
              <a:srgbClr val="81C1F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35000" cy="41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437056" y="329980"/>
            <a:ext cx="2416628" cy="1251779"/>
          </a:xfrm>
          <a:custGeom>
            <a:avLst/>
            <a:gdLst/>
            <a:ahLst/>
            <a:cxnLst/>
            <a:rect l="l" t="t" r="r" b="b"/>
            <a:pathLst>
              <a:path w="2416628" h="1251779">
                <a:moveTo>
                  <a:pt x="0" y="0"/>
                </a:moveTo>
                <a:lnTo>
                  <a:pt x="2416628" y="0"/>
                </a:lnTo>
                <a:lnTo>
                  <a:pt x="2416628" y="1251778"/>
                </a:lnTo>
                <a:lnTo>
                  <a:pt x="0" y="12517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365112" y="2264483"/>
            <a:ext cx="4143887" cy="3045757"/>
          </a:xfrm>
          <a:custGeom>
            <a:avLst/>
            <a:gdLst/>
            <a:ahLst/>
            <a:cxnLst/>
            <a:rect l="l" t="t" r="r" b="b"/>
            <a:pathLst>
              <a:path w="4143887" h="3045757">
                <a:moveTo>
                  <a:pt x="0" y="0"/>
                </a:moveTo>
                <a:lnTo>
                  <a:pt x="4143887" y="0"/>
                </a:lnTo>
                <a:lnTo>
                  <a:pt x="4143887" y="3045757"/>
                </a:lnTo>
                <a:lnTo>
                  <a:pt x="0" y="30457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764456" y="2397833"/>
            <a:ext cx="13073588" cy="1178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1"/>
              </a:lnSpc>
            </a:pPr>
            <a:r>
              <a:rPr lang="en-US" sz="8612" b="1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THE SOLUTION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0522" y="8319572"/>
            <a:ext cx="1071411" cy="13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39"/>
              </a:lnSpc>
            </a:pPr>
            <a:r>
              <a:rPr lang="en-US" sz="9515" b="1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908222" y="3851766"/>
            <a:ext cx="9479144" cy="1323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1">
                <a:solidFill>
                  <a:srgbClr val="1C74B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🤖 HR Policy AI Assistant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1C74B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conversational AI system that allows employees to ask questions in natural language and receive answers based on organizational HR policy documents.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endParaRPr lang="en-US" sz="1899" b="1">
              <a:solidFill>
                <a:srgbClr val="1C74BB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908222" y="5543897"/>
            <a:ext cx="12864703" cy="989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1C74B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What it does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1C74B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Upload Policy → Understand Documents → Retrieve Relevant Content → Generate Answer → Show Sources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endParaRPr lang="en-US" sz="1899" b="1">
              <a:solidFill>
                <a:srgbClr val="1C74BB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908222" y="6937596"/>
            <a:ext cx="12864703" cy="90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  <a:spcBef>
                <a:spcPct val="0"/>
              </a:spcBef>
            </a:pPr>
            <a:r>
              <a:rPr lang="en-US" sz="258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AI answers from the organization's knowledge base rather than relying only on general model knowledge.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64456" y="2397833"/>
            <a:ext cx="13073588" cy="1178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1"/>
              </a:lnSpc>
            </a:pPr>
            <a:r>
              <a:rPr lang="en-US" sz="8612" b="1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RAG?</a:t>
            </a:r>
          </a:p>
        </p:txBody>
      </p:sp>
      <p:sp>
        <p:nvSpPr>
          <p:cNvPr id="3" name="Freeform 3"/>
          <p:cNvSpPr/>
          <p:nvPr/>
        </p:nvSpPr>
        <p:spPr>
          <a:xfrm rot="-3855666">
            <a:off x="15046734" y="6345056"/>
            <a:ext cx="5662001" cy="5721512"/>
          </a:xfrm>
          <a:custGeom>
            <a:avLst/>
            <a:gdLst/>
            <a:ahLst/>
            <a:cxnLst/>
            <a:rect l="l" t="t" r="r" b="b"/>
            <a:pathLst>
              <a:path w="5662001" h="5721512">
                <a:moveTo>
                  <a:pt x="0" y="0"/>
                </a:moveTo>
                <a:lnTo>
                  <a:pt x="5662001" y="0"/>
                </a:lnTo>
                <a:lnTo>
                  <a:pt x="5662001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721374">
            <a:off x="-1084773" y="-3327728"/>
            <a:ext cx="5662001" cy="5721512"/>
          </a:xfrm>
          <a:custGeom>
            <a:avLst/>
            <a:gdLst/>
            <a:ahLst/>
            <a:cxnLst/>
            <a:rect l="l" t="t" r="r" b="b"/>
            <a:pathLst>
              <a:path w="5662001" h="5721512">
                <a:moveTo>
                  <a:pt x="0" y="0"/>
                </a:moveTo>
                <a:lnTo>
                  <a:pt x="5662002" y="0"/>
                </a:lnTo>
                <a:lnTo>
                  <a:pt x="5662002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715390" y="8128033"/>
            <a:ext cx="1566543" cy="156654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7D8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764456" y="9205812"/>
            <a:ext cx="11234139" cy="52488"/>
            <a:chOff x="0" y="0"/>
            <a:chExt cx="635000" cy="29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" cy="2967"/>
            </a:xfrm>
            <a:custGeom>
              <a:avLst/>
              <a:gdLst/>
              <a:ahLst/>
              <a:cxnLst/>
              <a:rect l="l" t="t" r="r" b="b"/>
              <a:pathLst>
                <a:path w="635000" h="2967">
                  <a:moveTo>
                    <a:pt x="0" y="0"/>
                  </a:moveTo>
                  <a:lnTo>
                    <a:pt x="635000" y="0"/>
                  </a:lnTo>
                  <a:lnTo>
                    <a:pt x="635000" y="2967"/>
                  </a:lnTo>
                  <a:lnTo>
                    <a:pt x="0" y="2967"/>
                  </a:lnTo>
                  <a:close/>
                </a:path>
              </a:pathLst>
            </a:custGeom>
            <a:solidFill>
              <a:srgbClr val="81C1F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635000" cy="41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10522" y="8319572"/>
            <a:ext cx="1071411" cy="13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39"/>
              </a:lnSpc>
            </a:pPr>
            <a:r>
              <a:rPr lang="en-US" sz="9515" b="1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64456" y="4181949"/>
            <a:ext cx="851913" cy="807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06"/>
              </a:lnSpc>
            </a:pPr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2764456" y="5745573"/>
            <a:ext cx="851913" cy="807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06"/>
              </a:lnSpc>
            </a:pPr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2764456" y="7309197"/>
            <a:ext cx="1580066" cy="807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06"/>
              </a:lnSpc>
            </a:pPr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3232630" y="3877022"/>
            <a:ext cx="5911370" cy="499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1C74B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Retrieval-Augmented Generation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endParaRPr lang="en-US" sz="1899" b="1">
              <a:solidFill>
                <a:srgbClr val="1C74BB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What do you know about HR policies?”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we use: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Employee Question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↓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Search HR Knowledge Base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↓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Retrieve Relevant Policy Sections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↓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Give Retrieved Context to LLM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↓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Generate Grounded Answer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↓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Show Source Pages</a:t>
            </a:r>
          </a:p>
        </p:txBody>
      </p:sp>
      <p:sp>
        <p:nvSpPr>
          <p:cNvPr id="16" name="Freeform 16"/>
          <p:cNvSpPr/>
          <p:nvPr/>
        </p:nvSpPr>
        <p:spPr>
          <a:xfrm>
            <a:off x="11655419" y="2861030"/>
            <a:ext cx="4182625" cy="4564939"/>
          </a:xfrm>
          <a:custGeom>
            <a:avLst/>
            <a:gdLst/>
            <a:ahLst/>
            <a:cxnLst/>
            <a:rect l="l" t="t" r="r" b="b"/>
            <a:pathLst>
              <a:path w="4182625" h="4564939">
                <a:moveTo>
                  <a:pt x="0" y="0"/>
                </a:moveTo>
                <a:lnTo>
                  <a:pt x="4182625" y="0"/>
                </a:lnTo>
                <a:lnTo>
                  <a:pt x="4182625" y="4564940"/>
                </a:lnTo>
                <a:lnTo>
                  <a:pt x="0" y="45649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5437056" y="329980"/>
            <a:ext cx="2416628" cy="1251779"/>
          </a:xfrm>
          <a:custGeom>
            <a:avLst/>
            <a:gdLst/>
            <a:ahLst/>
            <a:cxnLst/>
            <a:rect l="l" t="t" r="r" b="b"/>
            <a:pathLst>
              <a:path w="2416628" h="1251779">
                <a:moveTo>
                  <a:pt x="0" y="0"/>
                </a:moveTo>
                <a:lnTo>
                  <a:pt x="2416628" y="0"/>
                </a:lnTo>
                <a:lnTo>
                  <a:pt x="2416628" y="1251778"/>
                </a:lnTo>
                <a:lnTo>
                  <a:pt x="0" y="12517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855666">
            <a:off x="15046734" y="6345056"/>
            <a:ext cx="5662001" cy="5721512"/>
          </a:xfrm>
          <a:custGeom>
            <a:avLst/>
            <a:gdLst/>
            <a:ahLst/>
            <a:cxnLst/>
            <a:rect l="l" t="t" r="r" b="b"/>
            <a:pathLst>
              <a:path w="5662001" h="5721512">
                <a:moveTo>
                  <a:pt x="0" y="0"/>
                </a:moveTo>
                <a:lnTo>
                  <a:pt x="5662001" y="0"/>
                </a:lnTo>
                <a:lnTo>
                  <a:pt x="5662001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721374">
            <a:off x="-1084773" y="-3327728"/>
            <a:ext cx="5662001" cy="5721512"/>
          </a:xfrm>
          <a:custGeom>
            <a:avLst/>
            <a:gdLst/>
            <a:ahLst/>
            <a:cxnLst/>
            <a:rect l="l" t="t" r="r" b="b"/>
            <a:pathLst>
              <a:path w="5662001" h="5721512">
                <a:moveTo>
                  <a:pt x="0" y="0"/>
                </a:moveTo>
                <a:lnTo>
                  <a:pt x="5662002" y="0"/>
                </a:lnTo>
                <a:lnTo>
                  <a:pt x="5662002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715390" y="8128033"/>
            <a:ext cx="1566543" cy="156654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7D8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764456" y="9205812"/>
            <a:ext cx="11234139" cy="52488"/>
            <a:chOff x="0" y="0"/>
            <a:chExt cx="635000" cy="29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" cy="2967"/>
            </a:xfrm>
            <a:custGeom>
              <a:avLst/>
              <a:gdLst/>
              <a:ahLst/>
              <a:cxnLst/>
              <a:rect l="l" t="t" r="r" b="b"/>
              <a:pathLst>
                <a:path w="635000" h="2967">
                  <a:moveTo>
                    <a:pt x="0" y="0"/>
                  </a:moveTo>
                  <a:lnTo>
                    <a:pt x="635000" y="0"/>
                  </a:lnTo>
                  <a:lnTo>
                    <a:pt x="635000" y="2967"/>
                  </a:lnTo>
                  <a:lnTo>
                    <a:pt x="0" y="2967"/>
                  </a:lnTo>
                  <a:close/>
                </a:path>
              </a:pathLst>
            </a:custGeom>
            <a:solidFill>
              <a:srgbClr val="81C1F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35000" cy="41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flipV="1">
            <a:off x="4271012" y="7797905"/>
            <a:ext cx="2498547" cy="2123765"/>
          </a:xfrm>
          <a:custGeom>
            <a:avLst/>
            <a:gdLst/>
            <a:ahLst/>
            <a:cxnLst/>
            <a:rect l="l" t="t" r="r" b="b"/>
            <a:pathLst>
              <a:path w="2498547" h="2123765">
                <a:moveTo>
                  <a:pt x="0" y="2123765"/>
                </a:moveTo>
                <a:lnTo>
                  <a:pt x="2498547" y="2123765"/>
                </a:lnTo>
                <a:lnTo>
                  <a:pt x="2498547" y="0"/>
                </a:lnTo>
                <a:lnTo>
                  <a:pt x="0" y="0"/>
                </a:lnTo>
                <a:lnTo>
                  <a:pt x="0" y="2123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437056" y="329980"/>
            <a:ext cx="2416628" cy="1251779"/>
          </a:xfrm>
          <a:custGeom>
            <a:avLst/>
            <a:gdLst/>
            <a:ahLst/>
            <a:cxnLst/>
            <a:rect l="l" t="t" r="r" b="b"/>
            <a:pathLst>
              <a:path w="2416628" h="1251779">
                <a:moveTo>
                  <a:pt x="0" y="0"/>
                </a:moveTo>
                <a:lnTo>
                  <a:pt x="2416628" y="0"/>
                </a:lnTo>
                <a:lnTo>
                  <a:pt x="2416628" y="1251778"/>
                </a:lnTo>
                <a:lnTo>
                  <a:pt x="0" y="12517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2129598" y="3761525"/>
            <a:ext cx="2487556" cy="2763951"/>
          </a:xfrm>
          <a:custGeom>
            <a:avLst/>
            <a:gdLst/>
            <a:ahLst/>
            <a:cxnLst/>
            <a:rect l="l" t="t" r="r" b="b"/>
            <a:pathLst>
              <a:path w="2487556" h="2763951">
                <a:moveTo>
                  <a:pt x="0" y="0"/>
                </a:moveTo>
                <a:lnTo>
                  <a:pt x="2487556" y="0"/>
                </a:lnTo>
                <a:lnTo>
                  <a:pt x="2487556" y="2763950"/>
                </a:lnTo>
                <a:lnTo>
                  <a:pt x="0" y="2763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860596" y="2109412"/>
            <a:ext cx="15060485" cy="1178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1"/>
              </a:lnSpc>
            </a:pPr>
            <a:r>
              <a:rPr lang="en-US" sz="8612" b="1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 ARCHITECTURE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0522" y="8319572"/>
            <a:ext cx="1071411" cy="13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39"/>
              </a:lnSpc>
            </a:pPr>
            <a:r>
              <a:rPr lang="en-US" sz="9515" b="1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23317" y="3264333"/>
            <a:ext cx="3593728" cy="6657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            📄 HR POLICY PDF</a:t>
            </a:r>
          </a:p>
          <a:p>
            <a:pPr algn="just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│</a:t>
            </a:r>
          </a:p>
          <a:p>
            <a:pPr algn="just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▼</a:t>
            </a:r>
          </a:p>
          <a:p>
            <a:pPr algn="just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            PyPDFLoader</a:t>
            </a:r>
          </a:p>
          <a:p>
            <a:pPr algn="just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│</a:t>
            </a:r>
          </a:p>
          <a:p>
            <a:pPr algn="just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▼</a:t>
            </a:r>
          </a:p>
          <a:p>
            <a:pPr algn="just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            Text Chunking</a:t>
            </a:r>
          </a:p>
          <a:p>
            <a:pPr algn="just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│</a:t>
            </a:r>
          </a:p>
          <a:p>
            <a:pPr algn="just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▼</a:t>
            </a:r>
          </a:p>
          <a:p>
            <a:pPr algn="just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       🧠 MiniLM Embeddings</a:t>
            </a:r>
          </a:p>
          <a:p>
            <a:pPr algn="just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│</a:t>
            </a:r>
          </a:p>
          <a:p>
            <a:pPr algn="just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▼</a:t>
            </a:r>
          </a:p>
          <a:p>
            <a:pPr algn="just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            🗄️ ChromaDB</a:t>
            </a:r>
          </a:p>
          <a:p>
            <a:pPr algn="just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         Vector Knowledge Base</a:t>
            </a:r>
          </a:p>
          <a:p>
            <a:pPr algn="just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│</a:t>
            </a:r>
          </a:p>
          <a:p>
            <a:pPr algn="just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          👤 Employee Question</a:t>
            </a:r>
          </a:p>
          <a:p>
            <a:pPr algn="just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│</a:t>
            </a:r>
          </a:p>
          <a:p>
            <a:pPr algn="just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▼</a:t>
            </a:r>
          </a:p>
          <a:p>
            <a:pPr algn="just">
              <a:lnSpc>
                <a:spcPts val="2660"/>
              </a:lnSpc>
              <a:spcBef>
                <a:spcPct val="0"/>
              </a:spcBef>
            </a:pPr>
            <a:endParaRPr lang="en-US" sz="1900">
              <a:solidFill>
                <a:srgbClr val="1C74B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    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44530" y="3250277"/>
            <a:ext cx="4430074" cy="5657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🔎 Similarity Search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│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▼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Relevant Policy Chunks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│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▼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LangChain RAG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│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▼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🤖 Ollama + Qwen 2.5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│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▼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💬 HR Answer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│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▼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📑 Source Page Numbers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855666">
            <a:off x="15046734" y="6345056"/>
            <a:ext cx="5662001" cy="5721512"/>
          </a:xfrm>
          <a:custGeom>
            <a:avLst/>
            <a:gdLst/>
            <a:ahLst/>
            <a:cxnLst/>
            <a:rect l="l" t="t" r="r" b="b"/>
            <a:pathLst>
              <a:path w="5662001" h="5721512">
                <a:moveTo>
                  <a:pt x="0" y="0"/>
                </a:moveTo>
                <a:lnTo>
                  <a:pt x="5662001" y="0"/>
                </a:lnTo>
                <a:lnTo>
                  <a:pt x="5662001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721374">
            <a:off x="-1084773" y="-3327728"/>
            <a:ext cx="5662001" cy="5721512"/>
          </a:xfrm>
          <a:custGeom>
            <a:avLst/>
            <a:gdLst/>
            <a:ahLst/>
            <a:cxnLst/>
            <a:rect l="l" t="t" r="r" b="b"/>
            <a:pathLst>
              <a:path w="5662001" h="5721512">
                <a:moveTo>
                  <a:pt x="0" y="0"/>
                </a:moveTo>
                <a:lnTo>
                  <a:pt x="5662002" y="0"/>
                </a:lnTo>
                <a:lnTo>
                  <a:pt x="5662002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715390" y="8128033"/>
            <a:ext cx="1566543" cy="156654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7D8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764456" y="9205812"/>
            <a:ext cx="11234139" cy="52488"/>
            <a:chOff x="0" y="0"/>
            <a:chExt cx="635000" cy="29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" cy="2967"/>
            </a:xfrm>
            <a:custGeom>
              <a:avLst/>
              <a:gdLst/>
              <a:ahLst/>
              <a:cxnLst/>
              <a:rect l="l" t="t" r="r" b="b"/>
              <a:pathLst>
                <a:path w="635000" h="2967">
                  <a:moveTo>
                    <a:pt x="0" y="0"/>
                  </a:moveTo>
                  <a:lnTo>
                    <a:pt x="635000" y="0"/>
                  </a:lnTo>
                  <a:lnTo>
                    <a:pt x="635000" y="2967"/>
                  </a:lnTo>
                  <a:lnTo>
                    <a:pt x="0" y="2967"/>
                  </a:lnTo>
                  <a:close/>
                </a:path>
              </a:pathLst>
            </a:custGeom>
            <a:solidFill>
              <a:srgbClr val="81C1F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35000" cy="41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0" name="Object 10"/>
          <p:cNvGraphicFramePr/>
          <p:nvPr/>
        </p:nvGraphicFramePr>
        <p:xfrm>
          <a:off x="4760809" y="2219430"/>
          <a:ext cx="5657850" cy="628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6908800" imgH="7543800" progId="Excel.Sheet.12">
                  <p:embed/>
                </p:oleObj>
              </mc:Choice>
              <mc:Fallback>
                <p:oleObj name="Worksheet" r:id="rId4" imgW="6908800" imgH="75438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60809" y="2219430"/>
                        <a:ext cx="5657850" cy="6286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4559073" y="802235"/>
            <a:ext cx="11867472" cy="108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90"/>
              </a:lnSpc>
            </a:pPr>
            <a:r>
              <a:rPr lang="en-US" sz="7885" b="1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TECHNOLOGY STACK</a:t>
            </a:r>
          </a:p>
        </p:txBody>
      </p:sp>
      <p:sp>
        <p:nvSpPr>
          <p:cNvPr id="12" name="Freeform 12"/>
          <p:cNvSpPr/>
          <p:nvPr/>
        </p:nvSpPr>
        <p:spPr>
          <a:xfrm>
            <a:off x="15437056" y="329980"/>
            <a:ext cx="2416628" cy="1251779"/>
          </a:xfrm>
          <a:custGeom>
            <a:avLst/>
            <a:gdLst/>
            <a:ahLst/>
            <a:cxnLst/>
            <a:rect l="l" t="t" r="r" b="b"/>
            <a:pathLst>
              <a:path w="2416628" h="1251779">
                <a:moveTo>
                  <a:pt x="0" y="0"/>
                </a:moveTo>
                <a:lnTo>
                  <a:pt x="2416628" y="0"/>
                </a:lnTo>
                <a:lnTo>
                  <a:pt x="2416628" y="1251778"/>
                </a:lnTo>
                <a:lnTo>
                  <a:pt x="0" y="12517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14395" y="3857109"/>
            <a:ext cx="2265480" cy="2422974"/>
          </a:xfrm>
          <a:custGeom>
            <a:avLst/>
            <a:gdLst/>
            <a:ahLst/>
            <a:cxnLst/>
            <a:rect l="l" t="t" r="r" b="b"/>
            <a:pathLst>
              <a:path w="2265480" h="2422974">
                <a:moveTo>
                  <a:pt x="0" y="0"/>
                </a:moveTo>
                <a:lnTo>
                  <a:pt x="2265481" y="0"/>
                </a:lnTo>
                <a:lnTo>
                  <a:pt x="2265481" y="2422974"/>
                </a:lnTo>
                <a:lnTo>
                  <a:pt x="0" y="24229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10522" y="8319572"/>
            <a:ext cx="1071411" cy="13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39"/>
              </a:lnSpc>
            </a:pPr>
            <a:r>
              <a:rPr lang="en-US" sz="9515" b="1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855666">
            <a:off x="15046734" y="6345056"/>
            <a:ext cx="5662001" cy="5721512"/>
          </a:xfrm>
          <a:custGeom>
            <a:avLst/>
            <a:gdLst/>
            <a:ahLst/>
            <a:cxnLst/>
            <a:rect l="l" t="t" r="r" b="b"/>
            <a:pathLst>
              <a:path w="5662001" h="5721512">
                <a:moveTo>
                  <a:pt x="0" y="0"/>
                </a:moveTo>
                <a:lnTo>
                  <a:pt x="5662001" y="0"/>
                </a:lnTo>
                <a:lnTo>
                  <a:pt x="5662001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721374">
            <a:off x="-1084773" y="-3327728"/>
            <a:ext cx="5662001" cy="5721512"/>
          </a:xfrm>
          <a:custGeom>
            <a:avLst/>
            <a:gdLst/>
            <a:ahLst/>
            <a:cxnLst/>
            <a:rect l="l" t="t" r="r" b="b"/>
            <a:pathLst>
              <a:path w="5662001" h="5721512">
                <a:moveTo>
                  <a:pt x="0" y="0"/>
                </a:moveTo>
                <a:lnTo>
                  <a:pt x="5662002" y="0"/>
                </a:lnTo>
                <a:lnTo>
                  <a:pt x="5662002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715390" y="8128033"/>
            <a:ext cx="1566543" cy="156654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7D8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764456" y="9205812"/>
            <a:ext cx="11234139" cy="52488"/>
            <a:chOff x="0" y="0"/>
            <a:chExt cx="635000" cy="29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" cy="2967"/>
            </a:xfrm>
            <a:custGeom>
              <a:avLst/>
              <a:gdLst/>
              <a:ahLst/>
              <a:cxnLst/>
              <a:rect l="l" t="t" r="r" b="b"/>
              <a:pathLst>
                <a:path w="635000" h="2967">
                  <a:moveTo>
                    <a:pt x="0" y="0"/>
                  </a:moveTo>
                  <a:lnTo>
                    <a:pt x="635000" y="0"/>
                  </a:lnTo>
                  <a:lnTo>
                    <a:pt x="635000" y="2967"/>
                  </a:lnTo>
                  <a:lnTo>
                    <a:pt x="0" y="2967"/>
                  </a:lnTo>
                  <a:close/>
                </a:path>
              </a:pathLst>
            </a:custGeom>
            <a:solidFill>
              <a:srgbClr val="81C1F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35000" cy="41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559073" y="821285"/>
            <a:ext cx="12962063" cy="2217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1"/>
              </a:lnSpc>
            </a:pPr>
            <a:r>
              <a:rPr lang="en-US" sz="8612" b="1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HOW THE KNOWLEDGE BASE IS CREATED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0522" y="8319572"/>
            <a:ext cx="1071411" cy="13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39"/>
              </a:lnSpc>
            </a:pPr>
            <a:r>
              <a:rPr lang="en-US" sz="9515" b="1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7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53555" y="3001023"/>
            <a:ext cx="8808788" cy="5657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1C74B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Document Ingestion Pipeline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1. Upload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HR uploads a policy PDF.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↓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2. Extract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PyPDFLoader extracts document text.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↓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3. Chunk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Large documents are divided into smaller meaningful sections.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↓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4. Embed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MiniLM converts each section into a vector representation.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↓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5. Store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Vectors are stored in ChromaDB.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Result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The HR policy becomes searchable using semantic similarity.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855666">
            <a:off x="15046734" y="6345056"/>
            <a:ext cx="5662001" cy="5721512"/>
          </a:xfrm>
          <a:custGeom>
            <a:avLst/>
            <a:gdLst/>
            <a:ahLst/>
            <a:cxnLst/>
            <a:rect l="l" t="t" r="r" b="b"/>
            <a:pathLst>
              <a:path w="5662001" h="5721512">
                <a:moveTo>
                  <a:pt x="0" y="0"/>
                </a:moveTo>
                <a:lnTo>
                  <a:pt x="5662001" y="0"/>
                </a:lnTo>
                <a:lnTo>
                  <a:pt x="5662001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721374">
            <a:off x="-1084773" y="-3327728"/>
            <a:ext cx="5662001" cy="5721512"/>
          </a:xfrm>
          <a:custGeom>
            <a:avLst/>
            <a:gdLst/>
            <a:ahLst/>
            <a:cxnLst/>
            <a:rect l="l" t="t" r="r" b="b"/>
            <a:pathLst>
              <a:path w="5662001" h="5721512">
                <a:moveTo>
                  <a:pt x="0" y="0"/>
                </a:moveTo>
                <a:lnTo>
                  <a:pt x="5662002" y="0"/>
                </a:lnTo>
                <a:lnTo>
                  <a:pt x="5662002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715390" y="8128033"/>
            <a:ext cx="1566543" cy="156654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7D8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764456" y="9205812"/>
            <a:ext cx="11234139" cy="52488"/>
            <a:chOff x="0" y="0"/>
            <a:chExt cx="635000" cy="29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" cy="2967"/>
            </a:xfrm>
            <a:custGeom>
              <a:avLst/>
              <a:gdLst/>
              <a:ahLst/>
              <a:cxnLst/>
              <a:rect l="l" t="t" r="r" b="b"/>
              <a:pathLst>
                <a:path w="635000" h="2967">
                  <a:moveTo>
                    <a:pt x="0" y="0"/>
                  </a:moveTo>
                  <a:lnTo>
                    <a:pt x="635000" y="0"/>
                  </a:lnTo>
                  <a:lnTo>
                    <a:pt x="635000" y="2967"/>
                  </a:lnTo>
                  <a:lnTo>
                    <a:pt x="0" y="2967"/>
                  </a:lnTo>
                  <a:close/>
                </a:path>
              </a:pathLst>
            </a:custGeom>
            <a:solidFill>
              <a:srgbClr val="81C1F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35000" cy="41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6785183">
            <a:off x="7588589" y="5060585"/>
            <a:ext cx="2498547" cy="2123765"/>
          </a:xfrm>
          <a:custGeom>
            <a:avLst/>
            <a:gdLst/>
            <a:ahLst/>
            <a:cxnLst/>
            <a:rect l="l" t="t" r="r" b="b"/>
            <a:pathLst>
              <a:path w="2498547" h="2123765">
                <a:moveTo>
                  <a:pt x="0" y="0"/>
                </a:moveTo>
                <a:lnTo>
                  <a:pt x="2498547" y="0"/>
                </a:lnTo>
                <a:lnTo>
                  <a:pt x="2498547" y="2123765"/>
                </a:lnTo>
                <a:lnTo>
                  <a:pt x="0" y="21237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559073" y="821285"/>
            <a:ext cx="12962063" cy="2217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1"/>
              </a:lnSpc>
            </a:pPr>
            <a:r>
              <a:rPr lang="en-US" sz="8612" b="1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HOW A QUESTION IS ANSWERED</a:t>
            </a:r>
          </a:p>
        </p:txBody>
      </p:sp>
      <p:sp>
        <p:nvSpPr>
          <p:cNvPr id="12" name="Freeform 12"/>
          <p:cNvSpPr/>
          <p:nvPr/>
        </p:nvSpPr>
        <p:spPr>
          <a:xfrm>
            <a:off x="16095515" y="567118"/>
            <a:ext cx="1782219" cy="923164"/>
          </a:xfrm>
          <a:custGeom>
            <a:avLst/>
            <a:gdLst/>
            <a:ahLst/>
            <a:cxnLst/>
            <a:rect l="l" t="t" r="r" b="b"/>
            <a:pathLst>
              <a:path w="1782219" h="923164">
                <a:moveTo>
                  <a:pt x="0" y="0"/>
                </a:moveTo>
                <a:lnTo>
                  <a:pt x="1782219" y="0"/>
                </a:lnTo>
                <a:lnTo>
                  <a:pt x="1782219" y="923164"/>
                </a:lnTo>
                <a:lnTo>
                  <a:pt x="0" y="9231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743990" y="304984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10522" y="8319572"/>
            <a:ext cx="1071411" cy="13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39"/>
              </a:lnSpc>
            </a:pPr>
            <a:r>
              <a:rPr lang="en-US" sz="9515" b="1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8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87373" y="3253984"/>
            <a:ext cx="3543399" cy="5657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Employee Question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      ↓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Create Query Embedding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      ↓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Search ChromaDB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      ↓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Retrieve Top 4 Relevant Chunks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      ↓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Build Context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      ↓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Send Context + Question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      ↓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Qwen 2.5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      ↓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HR Policy Answer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      ↓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Display Source Pages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731699" y="3547289"/>
            <a:ext cx="3543399" cy="1313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1C74B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RAG inference pipeline.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855666">
            <a:off x="15046734" y="6345056"/>
            <a:ext cx="5662001" cy="5721512"/>
          </a:xfrm>
          <a:custGeom>
            <a:avLst/>
            <a:gdLst/>
            <a:ahLst/>
            <a:cxnLst/>
            <a:rect l="l" t="t" r="r" b="b"/>
            <a:pathLst>
              <a:path w="5662001" h="5721512">
                <a:moveTo>
                  <a:pt x="0" y="0"/>
                </a:moveTo>
                <a:lnTo>
                  <a:pt x="5662001" y="0"/>
                </a:lnTo>
                <a:lnTo>
                  <a:pt x="5662001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721374">
            <a:off x="-1084773" y="-3327728"/>
            <a:ext cx="5662001" cy="5721512"/>
          </a:xfrm>
          <a:custGeom>
            <a:avLst/>
            <a:gdLst/>
            <a:ahLst/>
            <a:cxnLst/>
            <a:rect l="l" t="t" r="r" b="b"/>
            <a:pathLst>
              <a:path w="5662001" h="5721512">
                <a:moveTo>
                  <a:pt x="0" y="0"/>
                </a:moveTo>
                <a:lnTo>
                  <a:pt x="5662002" y="0"/>
                </a:lnTo>
                <a:lnTo>
                  <a:pt x="5662002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715390" y="8128033"/>
            <a:ext cx="1566543" cy="156654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7D8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764456" y="9205812"/>
            <a:ext cx="11234139" cy="52488"/>
            <a:chOff x="0" y="0"/>
            <a:chExt cx="635000" cy="29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" cy="2967"/>
            </a:xfrm>
            <a:custGeom>
              <a:avLst/>
              <a:gdLst/>
              <a:ahLst/>
              <a:cxnLst/>
              <a:rect l="l" t="t" r="r" b="b"/>
              <a:pathLst>
                <a:path w="635000" h="2967">
                  <a:moveTo>
                    <a:pt x="0" y="0"/>
                  </a:moveTo>
                  <a:lnTo>
                    <a:pt x="635000" y="0"/>
                  </a:lnTo>
                  <a:lnTo>
                    <a:pt x="635000" y="2967"/>
                  </a:lnTo>
                  <a:lnTo>
                    <a:pt x="0" y="2967"/>
                  </a:lnTo>
                  <a:close/>
                </a:path>
              </a:pathLst>
            </a:custGeom>
            <a:solidFill>
              <a:srgbClr val="81C1F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35000" cy="41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559073" y="821285"/>
            <a:ext cx="12962063" cy="2217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1"/>
              </a:lnSpc>
            </a:pPr>
            <a:r>
              <a:rPr lang="en-US" sz="8612" b="1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WHAT ELSE CAN WE BUILD?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0522" y="8319572"/>
            <a:ext cx="1071411" cy="13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39"/>
              </a:lnSpc>
            </a:pPr>
            <a:r>
              <a:rPr lang="en-US" sz="9515" b="1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9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80477" y="3285305"/>
            <a:ext cx="9488686" cy="581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5"/>
              </a:lnSpc>
              <a:spcBef>
                <a:spcPct val="0"/>
              </a:spcBef>
            </a:pPr>
            <a:r>
              <a:rPr lang="en-US" sz="3360" b="1">
                <a:solidFill>
                  <a:srgbClr val="1C74B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From Prototype to Enterprise HR AI Platform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80477" y="4133386"/>
            <a:ext cx="4585891" cy="3236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14"/>
              </a:lnSpc>
              <a:spcBef>
                <a:spcPct val="0"/>
              </a:spcBef>
            </a:pPr>
            <a:r>
              <a:rPr lang="en-US" sz="3082" b="1">
                <a:solidFill>
                  <a:srgbClr val="1C74B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Employee Self-Service</a:t>
            </a:r>
          </a:p>
          <a:p>
            <a:pPr algn="just">
              <a:lnSpc>
                <a:spcPts val="4314"/>
              </a:lnSpc>
              <a:spcBef>
                <a:spcPct val="0"/>
              </a:spcBef>
            </a:pPr>
            <a:r>
              <a:rPr lang="en-US" sz="3082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💬 HR policy Q&amp;A</a:t>
            </a:r>
          </a:p>
          <a:p>
            <a:pPr algn="just">
              <a:lnSpc>
                <a:spcPts val="4314"/>
              </a:lnSpc>
              <a:spcBef>
                <a:spcPct val="0"/>
              </a:spcBef>
            </a:pPr>
            <a:r>
              <a:rPr lang="en-US" sz="3082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📅 Leave information</a:t>
            </a:r>
          </a:p>
          <a:p>
            <a:pPr algn="just">
              <a:lnSpc>
                <a:spcPts val="4314"/>
              </a:lnSpc>
              <a:spcBef>
                <a:spcPct val="0"/>
              </a:spcBef>
            </a:pPr>
            <a:r>
              <a:rPr lang="en-US" sz="3082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🏠 Remote work policies</a:t>
            </a:r>
          </a:p>
          <a:p>
            <a:pPr algn="just">
              <a:lnSpc>
                <a:spcPts val="4314"/>
              </a:lnSpc>
              <a:spcBef>
                <a:spcPct val="0"/>
              </a:spcBef>
            </a:pPr>
            <a:r>
              <a:rPr lang="en-US" sz="3082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💰 Expense policies</a:t>
            </a:r>
          </a:p>
          <a:p>
            <a:pPr algn="just">
              <a:lnSpc>
                <a:spcPts val="4314"/>
              </a:lnSpc>
              <a:spcBef>
                <a:spcPct val="0"/>
              </a:spcBef>
            </a:pPr>
            <a:r>
              <a:rPr lang="en-US" sz="3082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📋 Benefits information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65123" y="4133386"/>
            <a:ext cx="5441653" cy="3236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6"/>
              </a:lnSpc>
              <a:spcBef>
                <a:spcPct val="0"/>
              </a:spcBef>
            </a:pPr>
            <a:r>
              <a:rPr lang="en-US" sz="3076" b="1">
                <a:solidFill>
                  <a:srgbClr val="1C74B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HR Operations</a:t>
            </a:r>
          </a:p>
          <a:p>
            <a:pPr algn="l">
              <a:lnSpc>
                <a:spcPts val="4306"/>
              </a:lnSpc>
              <a:spcBef>
                <a:spcPct val="0"/>
              </a:spcBef>
            </a:pPr>
            <a:r>
              <a:rPr lang="en-US" sz="3076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📊 Policy analytics</a:t>
            </a:r>
          </a:p>
          <a:p>
            <a:pPr algn="l">
              <a:lnSpc>
                <a:spcPts val="4306"/>
              </a:lnSpc>
              <a:spcBef>
                <a:spcPct val="0"/>
              </a:spcBef>
            </a:pPr>
            <a:r>
              <a:rPr lang="en-US" sz="3076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🔎 Policy search</a:t>
            </a:r>
          </a:p>
          <a:p>
            <a:pPr algn="l">
              <a:lnSpc>
                <a:spcPts val="4306"/>
              </a:lnSpc>
              <a:spcBef>
                <a:spcPct val="0"/>
              </a:spcBef>
            </a:pPr>
            <a:r>
              <a:rPr lang="en-US" sz="3076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📄 Document management</a:t>
            </a:r>
          </a:p>
          <a:p>
            <a:pPr algn="l">
              <a:lnSpc>
                <a:spcPts val="4306"/>
              </a:lnSpc>
              <a:spcBef>
                <a:spcPct val="0"/>
              </a:spcBef>
            </a:pPr>
            <a:r>
              <a:rPr lang="en-US" sz="3076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🔄 Policy version comparison</a:t>
            </a:r>
          </a:p>
          <a:p>
            <a:pPr algn="l">
              <a:lnSpc>
                <a:spcPts val="4306"/>
              </a:lnSpc>
              <a:spcBef>
                <a:spcPct val="0"/>
              </a:spcBef>
            </a:pPr>
            <a:r>
              <a:rPr lang="en-US" sz="3076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📌 Source tracking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905532" y="2314601"/>
            <a:ext cx="5304731" cy="3648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7"/>
              </a:lnSpc>
              <a:spcBef>
                <a:spcPct val="0"/>
              </a:spcBef>
            </a:pPr>
            <a:r>
              <a:rPr lang="en-US" sz="2977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977" b="1">
                <a:solidFill>
                  <a:srgbClr val="1C74B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nterprise Features</a:t>
            </a:r>
          </a:p>
          <a:p>
            <a:pPr algn="l">
              <a:lnSpc>
                <a:spcPts val="4167"/>
              </a:lnSpc>
              <a:spcBef>
                <a:spcPct val="0"/>
              </a:spcBef>
            </a:pPr>
            <a:r>
              <a:rPr lang="en-US" sz="2977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🔐 Role-based access</a:t>
            </a:r>
          </a:p>
          <a:p>
            <a:pPr algn="l">
              <a:lnSpc>
                <a:spcPts val="4167"/>
              </a:lnSpc>
              <a:spcBef>
                <a:spcPct val="0"/>
              </a:spcBef>
            </a:pPr>
            <a:r>
              <a:rPr lang="en-US" sz="2977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👥 Employee authentication</a:t>
            </a:r>
          </a:p>
          <a:p>
            <a:pPr algn="l">
              <a:lnSpc>
                <a:spcPts val="4167"/>
              </a:lnSpc>
              <a:spcBef>
                <a:spcPct val="0"/>
              </a:spcBef>
            </a:pPr>
            <a:r>
              <a:rPr lang="en-US" sz="2977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📚 Multiple policy documents</a:t>
            </a:r>
          </a:p>
          <a:p>
            <a:pPr algn="l">
              <a:lnSpc>
                <a:spcPts val="4167"/>
              </a:lnSpc>
              <a:spcBef>
                <a:spcPct val="0"/>
              </a:spcBef>
            </a:pPr>
            <a:r>
              <a:rPr lang="en-US" sz="2977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🌐 Multi-language support</a:t>
            </a:r>
          </a:p>
          <a:p>
            <a:pPr algn="l">
              <a:lnSpc>
                <a:spcPts val="4167"/>
              </a:lnSpc>
              <a:spcBef>
                <a:spcPct val="0"/>
              </a:spcBef>
            </a:pPr>
            <a:r>
              <a:rPr lang="en-US" sz="2977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📈 Usage analytics</a:t>
            </a:r>
          </a:p>
          <a:p>
            <a:pPr algn="l">
              <a:lnSpc>
                <a:spcPts val="4167"/>
              </a:lnSpc>
              <a:spcBef>
                <a:spcPct val="0"/>
              </a:spcBef>
            </a:pPr>
            <a:r>
              <a:rPr lang="en-US" sz="2977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 📝 Audit logs</a:t>
            </a:r>
          </a:p>
        </p:txBody>
      </p:sp>
      <p:sp>
        <p:nvSpPr>
          <p:cNvPr id="16" name="Freeform 16"/>
          <p:cNvSpPr/>
          <p:nvPr/>
        </p:nvSpPr>
        <p:spPr>
          <a:xfrm>
            <a:off x="16095515" y="567118"/>
            <a:ext cx="1782219" cy="923164"/>
          </a:xfrm>
          <a:custGeom>
            <a:avLst/>
            <a:gdLst/>
            <a:ahLst/>
            <a:cxnLst/>
            <a:rect l="l" t="t" r="r" b="b"/>
            <a:pathLst>
              <a:path w="1782219" h="923164">
                <a:moveTo>
                  <a:pt x="0" y="0"/>
                </a:moveTo>
                <a:lnTo>
                  <a:pt x="1782219" y="0"/>
                </a:lnTo>
                <a:lnTo>
                  <a:pt x="1782219" y="923164"/>
                </a:lnTo>
                <a:lnTo>
                  <a:pt x="0" y="9231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855666">
            <a:off x="15046734" y="6345056"/>
            <a:ext cx="5662001" cy="5721512"/>
          </a:xfrm>
          <a:custGeom>
            <a:avLst/>
            <a:gdLst/>
            <a:ahLst/>
            <a:cxnLst/>
            <a:rect l="l" t="t" r="r" b="b"/>
            <a:pathLst>
              <a:path w="5662001" h="5721512">
                <a:moveTo>
                  <a:pt x="0" y="0"/>
                </a:moveTo>
                <a:lnTo>
                  <a:pt x="5662001" y="0"/>
                </a:lnTo>
                <a:lnTo>
                  <a:pt x="5662001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721374">
            <a:off x="-1084773" y="-3327728"/>
            <a:ext cx="5662001" cy="5721512"/>
          </a:xfrm>
          <a:custGeom>
            <a:avLst/>
            <a:gdLst/>
            <a:ahLst/>
            <a:cxnLst/>
            <a:rect l="l" t="t" r="r" b="b"/>
            <a:pathLst>
              <a:path w="5662001" h="5721512">
                <a:moveTo>
                  <a:pt x="0" y="0"/>
                </a:moveTo>
                <a:lnTo>
                  <a:pt x="5662002" y="0"/>
                </a:lnTo>
                <a:lnTo>
                  <a:pt x="5662002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715390" y="8128033"/>
            <a:ext cx="1566543" cy="156654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7D8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764456" y="9205812"/>
            <a:ext cx="11234139" cy="52488"/>
            <a:chOff x="0" y="0"/>
            <a:chExt cx="635000" cy="29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" cy="2967"/>
            </a:xfrm>
            <a:custGeom>
              <a:avLst/>
              <a:gdLst/>
              <a:ahLst/>
              <a:cxnLst/>
              <a:rect l="l" t="t" r="r" b="b"/>
              <a:pathLst>
                <a:path w="635000" h="2967">
                  <a:moveTo>
                    <a:pt x="0" y="0"/>
                  </a:moveTo>
                  <a:lnTo>
                    <a:pt x="635000" y="0"/>
                  </a:lnTo>
                  <a:lnTo>
                    <a:pt x="635000" y="2967"/>
                  </a:lnTo>
                  <a:lnTo>
                    <a:pt x="0" y="2967"/>
                  </a:lnTo>
                  <a:close/>
                </a:path>
              </a:pathLst>
            </a:custGeom>
            <a:solidFill>
              <a:srgbClr val="81C1F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35000" cy="41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697836" y="2985138"/>
            <a:ext cx="4892327" cy="5926061"/>
          </a:xfrm>
          <a:custGeom>
            <a:avLst/>
            <a:gdLst/>
            <a:ahLst/>
            <a:cxnLst/>
            <a:rect l="l" t="t" r="r" b="b"/>
            <a:pathLst>
              <a:path w="4892327" h="5926061">
                <a:moveTo>
                  <a:pt x="0" y="0"/>
                </a:moveTo>
                <a:lnTo>
                  <a:pt x="4892328" y="0"/>
                </a:lnTo>
                <a:lnTo>
                  <a:pt x="4892328" y="5926061"/>
                </a:lnTo>
                <a:lnTo>
                  <a:pt x="0" y="59260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559073" y="821285"/>
            <a:ext cx="14628493" cy="1178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1"/>
              </a:lnSpc>
            </a:pPr>
            <a:r>
              <a:rPr lang="en-US" sz="8612" b="1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PRODUCTION ROADMAP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0522" y="8319572"/>
            <a:ext cx="1936673" cy="13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39"/>
              </a:lnSpc>
            </a:pPr>
            <a:r>
              <a:rPr lang="en-US" sz="9515" b="1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10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01632" y="5337154"/>
            <a:ext cx="3884414" cy="581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5"/>
              </a:lnSpc>
              <a:spcBef>
                <a:spcPct val="0"/>
              </a:spcBef>
            </a:pPr>
            <a:r>
              <a:rPr lang="en-US" sz="3360" b="1">
                <a:solidFill>
                  <a:srgbClr val="1C74B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POC → Production</a:t>
            </a:r>
          </a:p>
        </p:txBody>
      </p:sp>
      <p:sp>
        <p:nvSpPr>
          <p:cNvPr id="14" name="Freeform 14"/>
          <p:cNvSpPr/>
          <p:nvPr/>
        </p:nvSpPr>
        <p:spPr>
          <a:xfrm>
            <a:off x="1210522" y="105536"/>
            <a:ext cx="1782219" cy="923164"/>
          </a:xfrm>
          <a:custGeom>
            <a:avLst/>
            <a:gdLst/>
            <a:ahLst/>
            <a:cxnLst/>
            <a:rect l="l" t="t" r="r" b="b"/>
            <a:pathLst>
              <a:path w="1782219" h="923164">
                <a:moveTo>
                  <a:pt x="0" y="0"/>
                </a:moveTo>
                <a:lnTo>
                  <a:pt x="1782220" y="0"/>
                </a:lnTo>
                <a:lnTo>
                  <a:pt x="1782220" y="923164"/>
                </a:lnTo>
                <a:lnTo>
                  <a:pt x="0" y="9231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855666">
            <a:off x="15046734" y="6345056"/>
            <a:ext cx="5662001" cy="5721512"/>
          </a:xfrm>
          <a:custGeom>
            <a:avLst/>
            <a:gdLst/>
            <a:ahLst/>
            <a:cxnLst/>
            <a:rect l="l" t="t" r="r" b="b"/>
            <a:pathLst>
              <a:path w="5662001" h="5721512">
                <a:moveTo>
                  <a:pt x="0" y="0"/>
                </a:moveTo>
                <a:lnTo>
                  <a:pt x="5662001" y="0"/>
                </a:lnTo>
                <a:lnTo>
                  <a:pt x="5662001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721374">
            <a:off x="-1084773" y="-3327728"/>
            <a:ext cx="5662001" cy="5721512"/>
          </a:xfrm>
          <a:custGeom>
            <a:avLst/>
            <a:gdLst/>
            <a:ahLst/>
            <a:cxnLst/>
            <a:rect l="l" t="t" r="r" b="b"/>
            <a:pathLst>
              <a:path w="5662001" h="5721512">
                <a:moveTo>
                  <a:pt x="0" y="0"/>
                </a:moveTo>
                <a:lnTo>
                  <a:pt x="5662002" y="0"/>
                </a:lnTo>
                <a:lnTo>
                  <a:pt x="5662002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715390" y="8128033"/>
            <a:ext cx="1566543" cy="156654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7D8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559595" y="9583688"/>
            <a:ext cx="11234139" cy="52488"/>
            <a:chOff x="0" y="0"/>
            <a:chExt cx="635000" cy="29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" cy="2967"/>
            </a:xfrm>
            <a:custGeom>
              <a:avLst/>
              <a:gdLst/>
              <a:ahLst/>
              <a:cxnLst/>
              <a:rect l="l" t="t" r="r" b="b"/>
              <a:pathLst>
                <a:path w="635000" h="2967">
                  <a:moveTo>
                    <a:pt x="0" y="0"/>
                  </a:moveTo>
                  <a:lnTo>
                    <a:pt x="635000" y="0"/>
                  </a:lnTo>
                  <a:lnTo>
                    <a:pt x="635000" y="2967"/>
                  </a:lnTo>
                  <a:lnTo>
                    <a:pt x="0" y="2967"/>
                  </a:lnTo>
                  <a:close/>
                </a:path>
              </a:pathLst>
            </a:custGeom>
            <a:solidFill>
              <a:srgbClr val="81C1F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35000" cy="41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559073" y="821285"/>
            <a:ext cx="14628493" cy="2217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1"/>
              </a:lnSpc>
            </a:pPr>
            <a:r>
              <a:rPr lang="en-US" sz="8612" b="1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WANT TO BUILD THIS YOURSELF?</a:t>
            </a:r>
          </a:p>
        </p:txBody>
      </p:sp>
      <p:sp>
        <p:nvSpPr>
          <p:cNvPr id="11" name="Freeform 11"/>
          <p:cNvSpPr/>
          <p:nvPr/>
        </p:nvSpPr>
        <p:spPr>
          <a:xfrm>
            <a:off x="16095515" y="567118"/>
            <a:ext cx="1782219" cy="923164"/>
          </a:xfrm>
          <a:custGeom>
            <a:avLst/>
            <a:gdLst/>
            <a:ahLst/>
            <a:cxnLst/>
            <a:rect l="l" t="t" r="r" b="b"/>
            <a:pathLst>
              <a:path w="1782219" h="923164">
                <a:moveTo>
                  <a:pt x="0" y="0"/>
                </a:moveTo>
                <a:lnTo>
                  <a:pt x="1782219" y="0"/>
                </a:lnTo>
                <a:lnTo>
                  <a:pt x="1782219" y="923164"/>
                </a:lnTo>
                <a:lnTo>
                  <a:pt x="0" y="9231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210522" y="8319572"/>
            <a:ext cx="1936673" cy="13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39"/>
              </a:lnSpc>
            </a:pPr>
            <a:r>
              <a:rPr lang="en-US" sz="9515" b="1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11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3215222"/>
            <a:ext cx="9772849" cy="5990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1C74B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Python → LangChain → Embeddings → ChromaDB → Ollama → Qwen → Streamlit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endParaRPr lang="en-US" sz="1899" b="1">
              <a:solidFill>
                <a:srgbClr val="1C74BB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Python Fundamentals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↓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Generative AI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↓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LLM Fundamentals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↓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Embeddings &amp; Vector Databases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↓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RAG Applications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↓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LangChain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↓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AI Agents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↓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Production AI Applications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endParaRPr lang="en-US" sz="1899">
              <a:solidFill>
                <a:srgbClr val="1C74B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855666">
            <a:off x="15046734" y="6345056"/>
            <a:ext cx="5662001" cy="5721512"/>
          </a:xfrm>
          <a:custGeom>
            <a:avLst/>
            <a:gdLst/>
            <a:ahLst/>
            <a:cxnLst/>
            <a:rect l="l" t="t" r="r" b="b"/>
            <a:pathLst>
              <a:path w="5662001" h="5721512">
                <a:moveTo>
                  <a:pt x="0" y="0"/>
                </a:moveTo>
                <a:lnTo>
                  <a:pt x="5662001" y="0"/>
                </a:lnTo>
                <a:lnTo>
                  <a:pt x="5662001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721374">
            <a:off x="-1084773" y="-3327728"/>
            <a:ext cx="5662001" cy="5721512"/>
          </a:xfrm>
          <a:custGeom>
            <a:avLst/>
            <a:gdLst/>
            <a:ahLst/>
            <a:cxnLst/>
            <a:rect l="l" t="t" r="r" b="b"/>
            <a:pathLst>
              <a:path w="5662001" h="5721512">
                <a:moveTo>
                  <a:pt x="0" y="0"/>
                </a:moveTo>
                <a:lnTo>
                  <a:pt x="5662002" y="0"/>
                </a:lnTo>
                <a:lnTo>
                  <a:pt x="5662002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715390" y="8128033"/>
            <a:ext cx="1566543" cy="156654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7D8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559595" y="9583688"/>
            <a:ext cx="11234139" cy="52488"/>
            <a:chOff x="0" y="0"/>
            <a:chExt cx="635000" cy="29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" cy="2967"/>
            </a:xfrm>
            <a:custGeom>
              <a:avLst/>
              <a:gdLst/>
              <a:ahLst/>
              <a:cxnLst/>
              <a:rect l="l" t="t" r="r" b="b"/>
              <a:pathLst>
                <a:path w="635000" h="2967">
                  <a:moveTo>
                    <a:pt x="0" y="0"/>
                  </a:moveTo>
                  <a:lnTo>
                    <a:pt x="635000" y="0"/>
                  </a:lnTo>
                  <a:lnTo>
                    <a:pt x="635000" y="2967"/>
                  </a:lnTo>
                  <a:lnTo>
                    <a:pt x="0" y="2967"/>
                  </a:lnTo>
                  <a:close/>
                </a:path>
              </a:pathLst>
            </a:custGeom>
            <a:solidFill>
              <a:srgbClr val="81C1F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35000" cy="41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095515" y="567118"/>
            <a:ext cx="1782219" cy="923164"/>
          </a:xfrm>
          <a:custGeom>
            <a:avLst/>
            <a:gdLst/>
            <a:ahLst/>
            <a:cxnLst/>
            <a:rect l="l" t="t" r="r" b="b"/>
            <a:pathLst>
              <a:path w="1782219" h="923164">
                <a:moveTo>
                  <a:pt x="0" y="0"/>
                </a:moveTo>
                <a:lnTo>
                  <a:pt x="1782219" y="0"/>
                </a:lnTo>
                <a:lnTo>
                  <a:pt x="1782219" y="923164"/>
                </a:lnTo>
                <a:lnTo>
                  <a:pt x="0" y="9231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331718" y="2119793"/>
            <a:ext cx="12200709" cy="6347139"/>
          </a:xfrm>
          <a:custGeom>
            <a:avLst/>
            <a:gdLst/>
            <a:ahLst/>
            <a:cxnLst/>
            <a:rect l="l" t="t" r="r" b="b"/>
            <a:pathLst>
              <a:path w="12200709" h="6347139">
                <a:moveTo>
                  <a:pt x="0" y="0"/>
                </a:moveTo>
                <a:lnTo>
                  <a:pt x="12200709" y="0"/>
                </a:lnTo>
                <a:lnTo>
                  <a:pt x="12200709" y="6347140"/>
                </a:lnTo>
                <a:lnTo>
                  <a:pt x="0" y="63471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210522" y="8319572"/>
            <a:ext cx="1936673" cy="13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39"/>
              </a:lnSpc>
            </a:pPr>
            <a:r>
              <a:rPr lang="en-US" sz="9515" b="1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855666">
            <a:off x="15046734" y="6345056"/>
            <a:ext cx="5662001" cy="5721512"/>
          </a:xfrm>
          <a:custGeom>
            <a:avLst/>
            <a:gdLst/>
            <a:ahLst/>
            <a:cxnLst/>
            <a:rect l="l" t="t" r="r" b="b"/>
            <a:pathLst>
              <a:path w="5662001" h="5721512">
                <a:moveTo>
                  <a:pt x="0" y="0"/>
                </a:moveTo>
                <a:lnTo>
                  <a:pt x="5662001" y="0"/>
                </a:lnTo>
                <a:lnTo>
                  <a:pt x="5662001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721374">
            <a:off x="-1084773" y="-3327728"/>
            <a:ext cx="5662001" cy="5721512"/>
          </a:xfrm>
          <a:custGeom>
            <a:avLst/>
            <a:gdLst/>
            <a:ahLst/>
            <a:cxnLst/>
            <a:rect l="l" t="t" r="r" b="b"/>
            <a:pathLst>
              <a:path w="5662001" h="5721512">
                <a:moveTo>
                  <a:pt x="0" y="0"/>
                </a:moveTo>
                <a:lnTo>
                  <a:pt x="5662002" y="0"/>
                </a:lnTo>
                <a:lnTo>
                  <a:pt x="5662002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715390" y="8128033"/>
            <a:ext cx="1566543" cy="156654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7D8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559595" y="9583688"/>
            <a:ext cx="11234139" cy="52488"/>
            <a:chOff x="0" y="0"/>
            <a:chExt cx="635000" cy="29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" cy="2967"/>
            </a:xfrm>
            <a:custGeom>
              <a:avLst/>
              <a:gdLst/>
              <a:ahLst/>
              <a:cxnLst/>
              <a:rect l="l" t="t" r="r" b="b"/>
              <a:pathLst>
                <a:path w="635000" h="2967">
                  <a:moveTo>
                    <a:pt x="0" y="0"/>
                  </a:moveTo>
                  <a:lnTo>
                    <a:pt x="635000" y="0"/>
                  </a:lnTo>
                  <a:lnTo>
                    <a:pt x="635000" y="2967"/>
                  </a:lnTo>
                  <a:lnTo>
                    <a:pt x="0" y="2967"/>
                  </a:lnTo>
                  <a:close/>
                </a:path>
              </a:pathLst>
            </a:custGeom>
            <a:solidFill>
              <a:srgbClr val="81C1F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35000" cy="41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095515" y="567118"/>
            <a:ext cx="1782219" cy="923164"/>
          </a:xfrm>
          <a:custGeom>
            <a:avLst/>
            <a:gdLst/>
            <a:ahLst/>
            <a:cxnLst/>
            <a:rect l="l" t="t" r="r" b="b"/>
            <a:pathLst>
              <a:path w="1782219" h="923164">
                <a:moveTo>
                  <a:pt x="0" y="0"/>
                </a:moveTo>
                <a:lnTo>
                  <a:pt x="1782219" y="0"/>
                </a:lnTo>
                <a:lnTo>
                  <a:pt x="1782219" y="923164"/>
                </a:lnTo>
                <a:lnTo>
                  <a:pt x="0" y="9231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281934" y="2154754"/>
            <a:ext cx="14204168" cy="5308808"/>
          </a:xfrm>
          <a:custGeom>
            <a:avLst/>
            <a:gdLst/>
            <a:ahLst/>
            <a:cxnLst/>
            <a:rect l="l" t="t" r="r" b="b"/>
            <a:pathLst>
              <a:path w="14204168" h="5308808">
                <a:moveTo>
                  <a:pt x="0" y="0"/>
                </a:moveTo>
                <a:lnTo>
                  <a:pt x="14204168" y="0"/>
                </a:lnTo>
                <a:lnTo>
                  <a:pt x="14204168" y="5308808"/>
                </a:lnTo>
                <a:lnTo>
                  <a:pt x="0" y="53088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210522" y="8319572"/>
            <a:ext cx="1936673" cy="13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39"/>
              </a:lnSpc>
            </a:pPr>
            <a:r>
              <a:rPr lang="en-US" sz="9515" b="1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855666">
            <a:off x="15046734" y="6345056"/>
            <a:ext cx="5662001" cy="5721512"/>
          </a:xfrm>
          <a:custGeom>
            <a:avLst/>
            <a:gdLst/>
            <a:ahLst/>
            <a:cxnLst/>
            <a:rect l="l" t="t" r="r" b="b"/>
            <a:pathLst>
              <a:path w="5662001" h="5721512">
                <a:moveTo>
                  <a:pt x="0" y="0"/>
                </a:moveTo>
                <a:lnTo>
                  <a:pt x="5662001" y="0"/>
                </a:lnTo>
                <a:lnTo>
                  <a:pt x="5662001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721374">
            <a:off x="-1084773" y="-3327728"/>
            <a:ext cx="5662001" cy="5721512"/>
          </a:xfrm>
          <a:custGeom>
            <a:avLst/>
            <a:gdLst/>
            <a:ahLst/>
            <a:cxnLst/>
            <a:rect l="l" t="t" r="r" b="b"/>
            <a:pathLst>
              <a:path w="5662001" h="5721512">
                <a:moveTo>
                  <a:pt x="0" y="0"/>
                </a:moveTo>
                <a:lnTo>
                  <a:pt x="5662002" y="0"/>
                </a:lnTo>
                <a:lnTo>
                  <a:pt x="5662002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715390" y="8128033"/>
            <a:ext cx="1566543" cy="156654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7D8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559595" y="9583688"/>
            <a:ext cx="11234139" cy="52488"/>
            <a:chOff x="0" y="0"/>
            <a:chExt cx="635000" cy="29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" cy="2967"/>
            </a:xfrm>
            <a:custGeom>
              <a:avLst/>
              <a:gdLst/>
              <a:ahLst/>
              <a:cxnLst/>
              <a:rect l="l" t="t" r="r" b="b"/>
              <a:pathLst>
                <a:path w="635000" h="2967">
                  <a:moveTo>
                    <a:pt x="0" y="0"/>
                  </a:moveTo>
                  <a:lnTo>
                    <a:pt x="635000" y="0"/>
                  </a:lnTo>
                  <a:lnTo>
                    <a:pt x="635000" y="2967"/>
                  </a:lnTo>
                  <a:lnTo>
                    <a:pt x="0" y="2967"/>
                  </a:lnTo>
                  <a:close/>
                </a:path>
              </a:pathLst>
            </a:custGeom>
            <a:solidFill>
              <a:srgbClr val="81C1F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35000" cy="41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095515" y="567118"/>
            <a:ext cx="1782219" cy="923164"/>
          </a:xfrm>
          <a:custGeom>
            <a:avLst/>
            <a:gdLst/>
            <a:ahLst/>
            <a:cxnLst/>
            <a:rect l="l" t="t" r="r" b="b"/>
            <a:pathLst>
              <a:path w="1782219" h="923164">
                <a:moveTo>
                  <a:pt x="0" y="0"/>
                </a:moveTo>
                <a:lnTo>
                  <a:pt x="1782219" y="0"/>
                </a:lnTo>
                <a:lnTo>
                  <a:pt x="1782219" y="923164"/>
                </a:lnTo>
                <a:lnTo>
                  <a:pt x="0" y="9231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381832" y="1982843"/>
            <a:ext cx="10411902" cy="6861022"/>
          </a:xfrm>
          <a:custGeom>
            <a:avLst/>
            <a:gdLst/>
            <a:ahLst/>
            <a:cxnLst/>
            <a:rect l="l" t="t" r="r" b="b"/>
            <a:pathLst>
              <a:path w="10411902" h="6861022">
                <a:moveTo>
                  <a:pt x="0" y="0"/>
                </a:moveTo>
                <a:lnTo>
                  <a:pt x="10411902" y="0"/>
                </a:lnTo>
                <a:lnTo>
                  <a:pt x="10411902" y="6861022"/>
                </a:lnTo>
                <a:lnTo>
                  <a:pt x="0" y="68610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210522" y="8319572"/>
            <a:ext cx="1936673" cy="13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39"/>
              </a:lnSpc>
            </a:pPr>
            <a:r>
              <a:rPr lang="en-US" sz="9515" b="1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46024" y="1728215"/>
            <a:ext cx="12119466" cy="2095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75"/>
              </a:lnSpc>
            </a:pPr>
            <a:r>
              <a:rPr lang="en-US" sz="15132" b="1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YOU!</a:t>
            </a:r>
          </a:p>
        </p:txBody>
      </p:sp>
      <p:sp>
        <p:nvSpPr>
          <p:cNvPr id="3" name="Freeform 3"/>
          <p:cNvSpPr/>
          <p:nvPr/>
        </p:nvSpPr>
        <p:spPr>
          <a:xfrm rot="4644591">
            <a:off x="14264060" y="-3736254"/>
            <a:ext cx="8047880" cy="8132468"/>
          </a:xfrm>
          <a:custGeom>
            <a:avLst/>
            <a:gdLst/>
            <a:ahLst/>
            <a:cxnLst/>
            <a:rect l="l" t="t" r="r" b="b"/>
            <a:pathLst>
              <a:path w="8047880" h="8132468">
                <a:moveTo>
                  <a:pt x="0" y="0"/>
                </a:moveTo>
                <a:lnTo>
                  <a:pt x="8047880" y="0"/>
                </a:lnTo>
                <a:lnTo>
                  <a:pt x="8047880" y="8132467"/>
                </a:lnTo>
                <a:lnTo>
                  <a:pt x="0" y="8132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934430">
            <a:off x="-2995240" y="5755692"/>
            <a:ext cx="8047880" cy="8132468"/>
          </a:xfrm>
          <a:custGeom>
            <a:avLst/>
            <a:gdLst/>
            <a:ahLst/>
            <a:cxnLst/>
            <a:rect l="l" t="t" r="r" b="b"/>
            <a:pathLst>
              <a:path w="8047880" h="8132468">
                <a:moveTo>
                  <a:pt x="0" y="0"/>
                </a:moveTo>
                <a:lnTo>
                  <a:pt x="8047880" y="0"/>
                </a:lnTo>
                <a:lnTo>
                  <a:pt x="8047880" y="8132468"/>
                </a:lnTo>
                <a:lnTo>
                  <a:pt x="0" y="8132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889840" y="5566923"/>
            <a:ext cx="5703455" cy="4576223"/>
          </a:xfrm>
          <a:custGeom>
            <a:avLst/>
            <a:gdLst/>
            <a:ahLst/>
            <a:cxnLst/>
            <a:rect l="l" t="t" r="r" b="b"/>
            <a:pathLst>
              <a:path w="5703455" h="4576223">
                <a:moveTo>
                  <a:pt x="0" y="0"/>
                </a:moveTo>
                <a:lnTo>
                  <a:pt x="5703454" y="0"/>
                </a:lnTo>
                <a:lnTo>
                  <a:pt x="5703454" y="4576223"/>
                </a:lnTo>
                <a:lnTo>
                  <a:pt x="0" y="45762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095515" y="567118"/>
            <a:ext cx="1782219" cy="923164"/>
          </a:xfrm>
          <a:custGeom>
            <a:avLst/>
            <a:gdLst/>
            <a:ahLst/>
            <a:cxnLst/>
            <a:rect l="l" t="t" r="r" b="b"/>
            <a:pathLst>
              <a:path w="1782219" h="923164">
                <a:moveTo>
                  <a:pt x="0" y="0"/>
                </a:moveTo>
                <a:lnTo>
                  <a:pt x="1782219" y="0"/>
                </a:lnTo>
                <a:lnTo>
                  <a:pt x="1782219" y="923164"/>
                </a:lnTo>
                <a:lnTo>
                  <a:pt x="0" y="9231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1865</TotalTime>
  <Words>583</Words>
  <Application>Microsoft Office PowerPoint</Application>
  <PresentationFormat>Custom</PresentationFormat>
  <Paragraphs>177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Open Sans Bold</vt:lpstr>
      <vt:lpstr>Arial</vt:lpstr>
      <vt:lpstr>Poppins Bold</vt:lpstr>
      <vt:lpstr>Calibri</vt:lpstr>
      <vt:lpstr>Open Sans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HR Policy AI Assistant</dc:title>
  <cp:lastModifiedBy>Kumar Kumar</cp:lastModifiedBy>
  <cp:revision>3</cp:revision>
  <dcterms:created xsi:type="dcterms:W3CDTF">2006-08-16T00:00:00Z</dcterms:created>
  <dcterms:modified xsi:type="dcterms:W3CDTF">2026-08-23T14:37:44Z</dcterms:modified>
  <dc:identifier>DAHS7kZEYIU</dc:identifier>
</cp:coreProperties>
</file>